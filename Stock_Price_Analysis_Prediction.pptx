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 Price</c:v>
                </c:pt>
              </c:strCache>
            </c:strRef>
          </c:tx>
          <c:spPr>
            <a:solidFill>
              <a:srgbClr val="1E5FA8"/>
            </a:solidFill>
            <a:ln w="25400" cap="flat">
              <a:solidFill>
                <a:srgbClr val="1E5FA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5FA8"/>
              </a:solidFill>
              <a:ln w="9525" cap="flat">
                <a:solidFill>
                  <a:srgbClr val="1E5FA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2200</c:v>
                </c:pt>
                <c:pt idx="1">
                  <c:v>2280</c:v>
                </c:pt>
                <c:pt idx="2">
                  <c:v>2190</c:v>
                </c:pt>
                <c:pt idx="3">
                  <c:v>2350</c:v>
                </c:pt>
                <c:pt idx="4">
                  <c:v>2420</c:v>
                </c:pt>
                <c:pt idx="5">
                  <c:v>2380</c:v>
                </c:pt>
                <c:pt idx="6">
                  <c:v>2455</c:v>
                </c:pt>
                <c:pt idx="7">
                  <c:v>2510</c:v>
                </c:pt>
                <c:pt idx="8">
                  <c:v>2490</c:v>
                </c:pt>
                <c:pt idx="9">
                  <c:v>2570</c:v>
                </c:pt>
                <c:pt idx="10">
                  <c:v>2620</c:v>
                </c:pt>
                <c:pt idx="11">
                  <c:v>2680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30-Day MA</c:v>
                </c:pt>
              </c:strCache>
            </c:strRef>
          </c:tx>
          <c:spPr>
            <a:solidFill>
              <a:srgbClr val="F59E0B"/>
            </a:solidFill>
            <a:ln w="2540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2200</c:v>
                </c:pt>
                <c:pt idx="1">
                  <c:v>2240</c:v>
                </c:pt>
                <c:pt idx="2">
                  <c:v>2220</c:v>
                </c:pt>
                <c:pt idx="3">
                  <c:v>2255</c:v>
                </c:pt>
                <c:pt idx="4">
                  <c:v>2310</c:v>
                </c:pt>
                <c:pt idx="5">
                  <c:v>2340</c:v>
                </c:pt>
                <c:pt idx="6">
                  <c:v>2375</c:v>
                </c:pt>
                <c:pt idx="7">
                  <c:v>2415</c:v>
                </c:pt>
                <c:pt idx="8">
                  <c:v>2450</c:v>
                </c:pt>
                <c:pt idx="9">
                  <c:v>2505</c:v>
                </c:pt>
                <c:pt idx="10">
                  <c:v>2545</c:v>
                </c:pt>
                <c:pt idx="11">
                  <c:v>2590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Volume (M)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1.2</c:v>
                </c:pt>
                <c:pt idx="1">
                  <c:v>1.8</c:v>
                </c:pt>
                <c:pt idx="2">
                  <c:v>1.4</c:v>
                </c:pt>
                <c:pt idx="3">
                  <c:v>2.1</c:v>
                </c:pt>
                <c:pt idx="4">
                  <c:v>1.9</c:v>
                </c:pt>
                <c:pt idx="5">
                  <c:v>1.6</c:v>
                </c:pt>
                <c:pt idx="6">
                  <c:v>2.3</c:v>
                </c:pt>
                <c:pt idx="7">
                  <c:v>2.5</c:v>
                </c:pt>
                <c:pt idx="8">
                  <c:v>2</c:v>
                </c:pt>
                <c:pt idx="9">
                  <c:v>2.8</c:v>
                </c:pt>
                <c:pt idx="10">
                  <c:v>2.4</c:v>
                </c:pt>
                <c:pt idx="11">
                  <c:v>3.1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Price</c:v>
                </c:pt>
              </c:strCache>
            </c:strRef>
          </c:tx>
          <c:spPr>
            <a:solidFill>
              <a:srgbClr val="1E5FA8"/>
            </a:solidFill>
            <a:ln w="25400" cap="flat">
              <a:solidFill>
                <a:srgbClr val="1E5FA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5FA8"/>
              </a:solidFill>
              <a:ln w="9525" cap="flat">
                <a:solidFill>
                  <a:srgbClr val="1E5FA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D1</c:v>
                  </c:pt>
                  <c:pt idx="1">
                    <c:v>D2</c:v>
                  </c:pt>
                  <c:pt idx="2">
                    <c:v>D3</c:v>
                  </c:pt>
                  <c:pt idx="3">
                    <c:v>D4</c:v>
                  </c:pt>
                  <c:pt idx="4">
                    <c:v>D5</c:v>
                  </c:pt>
                  <c:pt idx="5">
                    <c:v>D6</c:v>
                  </c:pt>
                  <c:pt idx="6">
                    <c:v>D7</c:v>
                  </c:pt>
                  <c:pt idx="7">
                    <c:v>D8</c:v>
                  </c:pt>
                  <c:pt idx="8">
                    <c:v>D9</c:v>
                  </c:pt>
                  <c:pt idx="9">
                    <c:v>D10</c:v>
                  </c:pt>
                  <c:pt idx="10">
                    <c:v>D11</c:v>
                  </c:pt>
                  <c:pt idx="11">
                    <c:v>D12</c:v>
                  </c:pt>
                  <c:pt idx="12">
                    <c:v>D13</c:v>
                  </c:pt>
                  <c:pt idx="13">
                    <c:v>D14</c:v>
                  </c:pt>
                  <c:pt idx="14">
                    <c:v>D15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2380</c:v>
                </c:pt>
                <c:pt idx="1">
                  <c:v>2395</c:v>
                </c:pt>
                <c:pt idx="2">
                  <c:v>2410</c:v>
                </c:pt>
                <c:pt idx="3">
                  <c:v>2400</c:v>
                </c:pt>
                <c:pt idx="4">
                  <c:v>2425</c:v>
                </c:pt>
                <c:pt idx="5">
                  <c:v>2440</c:v>
                </c:pt>
                <c:pt idx="6">
                  <c:v>2430</c:v>
                </c:pt>
                <c:pt idx="7">
                  <c:v>2460</c:v>
                </c:pt>
                <c:pt idx="8">
                  <c:v>2475</c:v>
                </c:pt>
                <c:pt idx="9">
                  <c:v>2465</c:v>
                </c:pt>
                <c:pt idx="10">
                  <c:v>2490</c:v>
                </c:pt>
                <c:pt idx="11">
                  <c:v>2510</c:v>
                </c:pt>
                <c:pt idx="12">
                  <c:v>2505</c:v>
                </c:pt>
                <c:pt idx="13">
                  <c:v>2530</c:v>
                </c:pt>
                <c:pt idx="14">
                  <c:v>2555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Predicted Price</c:v>
                </c:pt>
              </c:strCache>
            </c:strRef>
          </c:tx>
          <c:spPr>
            <a:solidFill>
              <a:srgbClr val="EF4444"/>
            </a:solidFill>
            <a:ln w="25400" cap="flat">
              <a:solidFill>
                <a:srgbClr val="EF444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D1</c:v>
                  </c:pt>
                  <c:pt idx="1">
                    <c:v>D2</c:v>
                  </c:pt>
                  <c:pt idx="2">
                    <c:v>D3</c:v>
                  </c:pt>
                  <c:pt idx="3">
                    <c:v>D4</c:v>
                  </c:pt>
                  <c:pt idx="4">
                    <c:v>D5</c:v>
                  </c:pt>
                  <c:pt idx="5">
                    <c:v>D6</c:v>
                  </c:pt>
                  <c:pt idx="6">
                    <c:v>D7</c:v>
                  </c:pt>
                  <c:pt idx="7">
                    <c:v>D8</c:v>
                  </c:pt>
                  <c:pt idx="8">
                    <c:v>D9</c:v>
                  </c:pt>
                  <c:pt idx="9">
                    <c:v>D10</c:v>
                  </c:pt>
                  <c:pt idx="10">
                    <c:v>D11</c:v>
                  </c:pt>
                  <c:pt idx="11">
                    <c:v>D12</c:v>
                  </c:pt>
                  <c:pt idx="12">
                    <c:v>D13</c:v>
                  </c:pt>
                  <c:pt idx="13">
                    <c:v>D14</c:v>
                  </c:pt>
                  <c:pt idx="14">
                    <c:v>D15</c:v>
                  </c:pt>
                </c:lvl>
              </c:multiLvlStrCache>
            </c:multiLvl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2372</c:v>
                </c:pt>
                <c:pt idx="1">
                  <c:v>2389</c:v>
                </c:pt>
                <c:pt idx="2">
                  <c:v>2415</c:v>
                </c:pt>
                <c:pt idx="3">
                  <c:v>2408</c:v>
                </c:pt>
                <c:pt idx="4">
                  <c:v>2428</c:v>
                </c:pt>
                <c:pt idx="5">
                  <c:v>2445</c:v>
                </c:pt>
                <c:pt idx="6">
                  <c:v>2438</c:v>
                </c:pt>
                <c:pt idx="7">
                  <c:v>2455</c:v>
                </c:pt>
                <c:pt idx="8">
                  <c:v>2470</c:v>
                </c:pt>
                <c:pt idx="9">
                  <c:v>2462</c:v>
                </c:pt>
                <c:pt idx="10">
                  <c:v>2488</c:v>
                </c:pt>
                <c:pt idx="11">
                  <c:v>2508</c:v>
                </c:pt>
                <c:pt idx="12">
                  <c:v>2512</c:v>
                </c:pt>
                <c:pt idx="13">
                  <c:v>2525</c:v>
                </c:pt>
                <c:pt idx="14">
                  <c:v>2548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Introduce yourself: name, college, and the project title. Mention this is an internship submission project using Python-based machine learning to analyze and predict stock price trends.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to the audience what stock analysis means in simple terms. Highlight that millions of rupees are traded daily on NSE/BSE and accurate predictions are extremely valuable. Mention companies like Infosys, TCS, and Reliance as examples.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the three main problems. Emphasize that traditional chart reading requires years of expertise and still has high error rates. This motivates the need for a data-driven, automated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objective. Tell the panel: Objective 1–3 are the data pipeline, 4–5 are the model, and 6 is the output/conclusions. This structured approach shows clear project planning.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traditional methods work, but they are slow, error-prone, and require expertise. This gap creates the perfect opportunity for an ML-based automated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key differentiator slide. Emphasize automation, scalability, and accuracy. Mention that the system could be extended to mobile apps or web dashboards in future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asked why Python: it has the richest ML/data science ecosystem. Pandas is for data wrangling, Scikit-learn for modeling, Matplotlib/Seaborn for visualization. yfinance replaces manual CSV downloads.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pipeline step by step. Each box feeds into the next. Emphasize that this is a clean, modular architecture — data flows one-way, which makes debugging easy.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each column. The most important feature is 'Close' — that's what the model predicts. Mention that data was downloaded using the yfinance library for free. Date range: Jan 2015 to Dec 2024.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preprocessing is critical. Explain that raw data often has weekends/holidays missing. Forward-fill handles this. Normalization is especially important for LSTM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audience these are actual data patterns. The line chart shows an upward trend. Moving average smooths day-to-day noise. Volume spikes often indicate big news events.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both models clearly. For the examiner: Linear Regression is simpler and interpretable. LSTM is more advanced but needs more data and computation. Mention you used both and compared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blue line (actual) and red line (predicted) are very close — validating model quality. R² = 0.942 means the model captures 94.2% of price movement patterns.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these advantages when the examiner asks 'What is the benefit of your system?' Key points: automation, accuracy, scalability, and visual insights for decision support.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Being honest about limitations shows maturity. Tell the panel: 'We acknowledge these limitations and the future work section addresses how they can be resolved.'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Future work shows the examiner you've thought beyond the current project. Highlight Phase 3 (mobile app) as something users would actually use daily. Phase 4 (sentiment analysis) is a hot research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closing slide. Summarize what you achieved. End with: 'This project gave me hands-on experience with the complete data science pipeline — from raw data to a working prediction model.' Be confident!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examiner asks about your sources, mention Yahoo Finance for data and the two key papers by Fischer &amp; Krauss (LSTM) and McNally et al. (Bitcoin ML prediction). These are well-cited, credible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A2F55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32040"/>
          </a:solidFill>
          <a:ln/>
        </p:spPr>
      </p:sp>
      <p:sp>
        <p:nvSpPr>
          <p:cNvPr id="4" name="Shape 2"/>
          <p:cNvSpPr/>
          <p:nvPr/>
        </p:nvSpPr>
        <p:spPr>
          <a:xfrm>
            <a:off x="6949440" y="457200"/>
            <a:ext cx="1645920" cy="1645920"/>
          </a:xfrm>
          <a:prstGeom prst="oval">
            <a:avLst/>
          </a:prstGeom>
          <a:solidFill>
            <a:srgbClr val="0EC9C9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178040" y="685800"/>
            <a:ext cx="1188720" cy="1188720"/>
          </a:xfrm>
          <a:prstGeom prst="oval">
            <a:avLst/>
          </a:prstGeom>
          <a:solidFill>
            <a:srgbClr val="0EC9C9">
              <a:alpha val="6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82296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4008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Price Analysis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02920" y="123444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Trend Prediction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502920" y="1965960"/>
            <a:ext cx="4114800" cy="45720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2148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Student: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103120" y="2148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Manojkumar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" y="27157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College: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103120" y="27157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Venkateswara Engineering College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2920" y="328269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Internship: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103120" y="328269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&amp; Machine Learning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02920" y="384962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Date: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103120" y="384962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02920" y="4663440"/>
            <a:ext cx="2194560" cy="347472"/>
          </a:xfrm>
          <a:prstGeom prst="roundRect">
            <a:avLst>
              <a:gd name="adj" fmla="val 21053"/>
            </a:avLst>
          </a:prstGeom>
          <a:solidFill>
            <a:srgbClr val="1E5FA8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" y="46634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F55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256032"/>
            <a:ext cx="438912" cy="438912"/>
          </a:xfrm>
          <a:prstGeom prst="oval">
            <a:avLst/>
          </a:prstGeom>
          <a:solidFill>
            <a:srgbClr val="0EC9C9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5760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Stock Market Analysis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3444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2344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Stock Market Analysis?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" y="173736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of evaluating stocks to make informed investment decisions.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Involves studying price movements, trading volumes, and market trends.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main approaches: Fundamental Analysis (company value) and Technical Analysis (price patterns).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investors identify the right time to buy or sell stocks.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09160" y="109728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3444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2344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Prediction Important?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937760" y="173736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prices change every second — manual tracking is impossible.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predictions help reduce financial risk and maximize returns.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 can detect hidden patterns in historical data.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banks, hedge funds, and individual investors worldwide.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F55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256032"/>
            <a:ext cx="438912" cy="438912"/>
          </a:xfrm>
          <a:prstGeom prst="oval">
            <a:avLst/>
          </a:prstGeom>
          <a:solidFill>
            <a:srgbClr val="0EC9C9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5760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in Traditional Stock Analysis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09728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0" y="2057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0040" y="278892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02920" y="2852928"/>
            <a:ext cx="457200" cy="457200"/>
          </a:xfrm>
          <a:prstGeom prst="oval">
            <a:avLst/>
          </a:prstGeom>
          <a:solidFill>
            <a:srgbClr val="EF4444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2852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2880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Overload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" y="3401568"/>
            <a:ext cx="237744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stocks to track daily. Human analysts cannot monitor all simultaneously.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200400" y="278892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83280" y="2852928"/>
            <a:ext cx="457200" cy="457200"/>
          </a:xfrm>
          <a:prstGeom prst="oval">
            <a:avLst/>
          </a:prstGeom>
          <a:solidFill>
            <a:srgbClr val="F59E0B"/>
          </a:solidFill>
          <a:ln/>
        </p:spPr>
      </p:sp>
      <p:sp>
        <p:nvSpPr>
          <p:cNvPr id="15" name="Text 12"/>
          <p:cNvSpPr/>
          <p:nvPr/>
        </p:nvSpPr>
        <p:spPr>
          <a:xfrm>
            <a:off x="3383280" y="2852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931920" y="2880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Bias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383280" y="3401568"/>
            <a:ext cx="237744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decisions are influenced by fear and greed, leading to poor investment choices.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080760" y="278892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263640" y="2852928"/>
            <a:ext cx="457200" cy="457200"/>
          </a:xfrm>
          <a:prstGeom prst="oval">
            <a:avLst/>
          </a:prstGeom>
          <a:solidFill>
            <a:srgbClr val="1E5FA8"/>
          </a:solidFill>
          <a:ln/>
        </p:spPr>
      </p:sp>
      <p:sp>
        <p:nvSpPr>
          <p:cNvPr id="20" name="Text 17"/>
          <p:cNvSpPr/>
          <p:nvPr/>
        </p:nvSpPr>
        <p:spPr>
          <a:xfrm>
            <a:off x="6263640" y="2852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812280" y="2880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Processing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263640" y="3401568"/>
            <a:ext cx="237744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analysis takes hours or days; markets move in seconds, causing missed opportunities.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F55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256032"/>
            <a:ext cx="438912" cy="438912"/>
          </a:xfrm>
          <a:prstGeom prst="oval">
            <a:avLst/>
          </a:prstGeom>
          <a:solidFill>
            <a:srgbClr val="0EC9C9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5760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Aim to Achieve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2062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44752"/>
            <a:ext cx="411480" cy="411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188720"/>
            <a:ext cx="411480" cy="411480"/>
          </a:xfrm>
          <a:prstGeom prst="oval">
            <a:avLst/>
          </a:prstGeom>
          <a:solidFill>
            <a:srgbClr val="1E5FA8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188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78408" y="118872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&amp; Load Data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78408" y="1572768"/>
            <a:ext cx="34015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historical stock price data (Open, Close, High, Low, Volume) from Yahoo Finance API.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09160" y="1097280"/>
            <a:ext cx="42062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444752"/>
            <a:ext cx="411480" cy="4114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846320" y="1188720"/>
            <a:ext cx="411480" cy="411480"/>
          </a:xfrm>
          <a:prstGeom prst="oval">
            <a:avLst/>
          </a:prstGeom>
          <a:solidFill>
            <a:srgbClr val="2E8BC0"/>
          </a:solidFill>
          <a:ln/>
        </p:spPr>
      </p:sp>
      <p:sp>
        <p:nvSpPr>
          <p:cNvPr id="15" name="Text 11"/>
          <p:cNvSpPr/>
          <p:nvPr/>
        </p:nvSpPr>
        <p:spPr>
          <a:xfrm>
            <a:off x="4846320" y="1188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367528" y="118872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Trends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367528" y="1572768"/>
            <a:ext cx="34015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clear line charts, candlestick graphs, and moving average plots to reveal patterns.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20040" y="2423160"/>
            <a:ext cx="42062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70632"/>
            <a:ext cx="411480" cy="41148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457200" y="2514600"/>
            <a:ext cx="411480" cy="411480"/>
          </a:xfrm>
          <a:prstGeom prst="oval">
            <a:avLst/>
          </a:prstGeom>
          <a:solidFill>
            <a:srgbClr val="0EC9C9"/>
          </a:solidFill>
          <a:ln/>
        </p:spPr>
      </p:sp>
      <p:sp>
        <p:nvSpPr>
          <p:cNvPr id="21" name="Text 16"/>
          <p:cNvSpPr/>
          <p:nvPr/>
        </p:nvSpPr>
        <p:spPr>
          <a:xfrm>
            <a:off x="457200" y="2514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978408" y="251460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Dataset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978408" y="2898648"/>
            <a:ext cx="34015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values, normalize data, and engineer useful features like daily returns and rolling averages.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4709160" y="2423160"/>
            <a:ext cx="42062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770632"/>
            <a:ext cx="411480" cy="411480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4846320" y="2514600"/>
            <a:ext cx="411480" cy="411480"/>
          </a:xfrm>
          <a:prstGeom prst="oval">
            <a:avLst/>
          </a:prstGeom>
          <a:solidFill>
            <a:srgbClr val="22C55E"/>
          </a:solidFill>
          <a:ln/>
        </p:spPr>
      </p:sp>
      <p:sp>
        <p:nvSpPr>
          <p:cNvPr id="27" name="Text 21"/>
          <p:cNvSpPr/>
          <p:nvPr/>
        </p:nvSpPr>
        <p:spPr>
          <a:xfrm>
            <a:off x="4846320" y="2514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5367528" y="251460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ML Model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5367528" y="2898648"/>
            <a:ext cx="34015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Linear Regression or LSTM model to predict future stock closing prices.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320040" y="3749040"/>
            <a:ext cx="42062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096512"/>
            <a:ext cx="411480" cy="411480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457200" y="3840480"/>
            <a:ext cx="411480" cy="411480"/>
          </a:xfrm>
          <a:prstGeom prst="oval">
            <a:avLst/>
          </a:prstGeom>
          <a:solidFill>
            <a:srgbClr val="F59E0B"/>
          </a:solidFill>
          <a:ln/>
        </p:spPr>
      </p:sp>
      <p:sp>
        <p:nvSpPr>
          <p:cNvPr id="33" name="Text 26"/>
          <p:cNvSpPr/>
          <p:nvPr/>
        </p:nvSpPr>
        <p:spPr>
          <a:xfrm>
            <a:off x="457200" y="3840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978408" y="384048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&amp; Compare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978408" y="4224528"/>
            <a:ext cx="34015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model accuracy using RMSE and MAE; compare Predicted vs Actual price graphs.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4709160" y="3749040"/>
            <a:ext cx="42062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4096512"/>
            <a:ext cx="411480" cy="411480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4846320" y="3840480"/>
            <a:ext cx="411480" cy="411480"/>
          </a:xfrm>
          <a:prstGeom prst="oval">
            <a:avLst/>
          </a:prstGeom>
          <a:solidFill>
            <a:srgbClr val="EF4444"/>
          </a:solidFill>
          <a:ln/>
        </p:spPr>
      </p:sp>
      <p:sp>
        <p:nvSpPr>
          <p:cNvPr id="39" name="Text 31"/>
          <p:cNvSpPr/>
          <p:nvPr/>
        </p:nvSpPr>
        <p:spPr>
          <a:xfrm>
            <a:off x="4846320" y="3840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5367528" y="384048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Insights</a:t>
            </a:r>
            <a:endParaRPr lang="en-US" sz="1200" dirty="0"/>
          </a:p>
        </p:txBody>
      </p:sp>
      <p:sp>
        <p:nvSpPr>
          <p:cNvPr id="41" name="Text 33"/>
          <p:cNvSpPr/>
          <p:nvPr/>
        </p:nvSpPr>
        <p:spPr>
          <a:xfrm>
            <a:off x="5367528" y="4224528"/>
            <a:ext cx="34015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findings and provide actionable insights for better investment decisions.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F55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256032"/>
            <a:ext cx="438912" cy="438912"/>
          </a:xfrm>
          <a:prstGeom prst="oval">
            <a:avLst/>
          </a:prstGeom>
          <a:solidFill>
            <a:srgbClr val="0EC9C9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5760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Methods &amp; Their Limitations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Analysis Methods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481328"/>
            <a:ext cx="43891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536192"/>
            <a:ext cx="41330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Fundamental Analysis — studying company financials (P/E ratio, EPS, revenue growth)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231136"/>
            <a:ext cx="43891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286000"/>
            <a:ext cx="41330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Technical Analysis — reading candlestick charts, RSI, MACD manually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980944"/>
            <a:ext cx="43891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3035808"/>
            <a:ext cx="41330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📰  News Sentiment — manually tracking news and expert opinions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730752"/>
            <a:ext cx="43891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3785616"/>
            <a:ext cx="41330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Spreadsheet Models — hand-crafted Excel models for forecasting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12080" y="10515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Limitations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212080" y="1481328"/>
            <a:ext cx="35661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49240" y="1600200"/>
            <a:ext cx="320040" cy="320040"/>
          </a:xfrm>
          <a:prstGeom prst="oval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5349240" y="1600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60720" y="15361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Consuming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60720" y="18105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analysis of hundreds of stocks takes days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212080" y="2231136"/>
            <a:ext cx="35661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349240" y="2350008"/>
            <a:ext cx="320040" cy="320040"/>
          </a:xfrm>
          <a:prstGeom prst="oval">
            <a:avLst/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5349240" y="23500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760720" y="22860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Error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60720" y="25603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decisions override logical analysis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212080" y="2980944"/>
            <a:ext cx="35661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349240" y="3099816"/>
            <a:ext cx="320040" cy="320040"/>
          </a:xfrm>
          <a:prstGeom prst="oval">
            <a:avLst/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5349240" y="30998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760720" y="303580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Scalable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760720" y="33101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handle big data or real-time feeds efficiently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212080" y="3730752"/>
            <a:ext cx="35661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349240" y="3849624"/>
            <a:ext cx="320040" cy="320040"/>
          </a:xfrm>
          <a:prstGeom prst="oval">
            <a:avLst/>
          </a:prstGeom>
          <a:solidFill>
            <a:srgbClr val="EF4444"/>
          </a:solidFill>
          <a:ln/>
        </p:spPr>
      </p:sp>
      <p:sp>
        <p:nvSpPr>
          <p:cNvPr id="33" name="Text 31"/>
          <p:cNvSpPr/>
          <p:nvPr/>
        </p:nvSpPr>
        <p:spPr>
          <a:xfrm>
            <a:off x="5349240" y="384962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760720" y="378561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Accuracy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760720" y="40599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recognition by eye misses subtle signals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F55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256032"/>
            <a:ext cx="438912" cy="438912"/>
          </a:xfrm>
          <a:prstGeom prst="oval">
            <a:avLst/>
          </a:prstGeom>
          <a:solidFill>
            <a:srgbClr val="0EC9C9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5760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AI/ML-Based Stock Prediction Framework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EBF4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170432"/>
            <a:ext cx="7223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system uses Python-based Machine Learning to automatically collect, clean, analyze, and predict stock price movements. It eliminates manual effort and provides data-driven insights.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65760" y="2212848"/>
            <a:ext cx="265176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0"/>
            <a:ext cx="411480" cy="4114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02920" y="2304288"/>
            <a:ext cx="411480" cy="411480"/>
          </a:xfrm>
          <a:prstGeom prst="oval">
            <a:avLst/>
          </a:prstGeom>
          <a:solidFill>
            <a:srgbClr val="1E5FA8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331720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24128" y="23042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 Faster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502920" y="2807208"/>
            <a:ext cx="239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data pipeline processes years of data in seconds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3200400" y="2212848"/>
            <a:ext cx="265176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2560320"/>
            <a:ext cx="411480" cy="41148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3337560" y="2304288"/>
            <a:ext cx="411480" cy="411480"/>
          </a:xfrm>
          <a:prstGeom prst="oval">
            <a:avLst/>
          </a:prstGeom>
          <a:solidFill>
            <a:srgbClr val="22C55E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992" y="2331720"/>
            <a:ext cx="347472" cy="34747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858768" y="23042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ML-Powered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3337560" y="2807208"/>
            <a:ext cx="239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&amp; LSTM models learn from historical patterns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6035040" y="2212848"/>
            <a:ext cx="265176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2560320"/>
            <a:ext cx="411480" cy="41148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172200" y="2304288"/>
            <a:ext cx="411480" cy="411480"/>
          </a:xfrm>
          <a:prstGeom prst="oval">
            <a:avLst/>
          </a:prstGeom>
          <a:solidFill>
            <a:srgbClr val="0EC9C9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9632" y="2331720"/>
            <a:ext cx="347472" cy="34747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693408" y="23042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Dashboards</a:t>
            </a:r>
            <a:endParaRPr lang="en-US" sz="1100" dirty="0"/>
          </a:p>
        </p:txBody>
      </p:sp>
      <p:sp>
        <p:nvSpPr>
          <p:cNvPr id="26" name="Text 17"/>
          <p:cNvSpPr/>
          <p:nvPr/>
        </p:nvSpPr>
        <p:spPr>
          <a:xfrm>
            <a:off x="6172200" y="2807208"/>
            <a:ext cx="239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charts and trend graphs for easy interpretation</a:t>
            </a:r>
            <a:endParaRPr lang="en-US" sz="1000" dirty="0"/>
          </a:p>
        </p:txBody>
      </p:sp>
      <p:sp>
        <p:nvSpPr>
          <p:cNvPr id="27" name="Shape 18"/>
          <p:cNvSpPr/>
          <p:nvPr/>
        </p:nvSpPr>
        <p:spPr>
          <a:xfrm>
            <a:off x="365760" y="3584448"/>
            <a:ext cx="265176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" y="3931920"/>
            <a:ext cx="411480" cy="411480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502920" y="3675888"/>
            <a:ext cx="411480" cy="411480"/>
          </a:xfrm>
          <a:prstGeom prst="oval">
            <a:avLst/>
          </a:prstGeom>
          <a:solidFill>
            <a:srgbClr val="F59E0B"/>
          </a:solidFill>
          <a:ln/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0352" y="3703320"/>
            <a:ext cx="347472" cy="347472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1024128" y="36758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Predictions</a:t>
            </a:r>
            <a:endParaRPr lang="en-US" sz="1100" dirty="0"/>
          </a:p>
        </p:txBody>
      </p:sp>
      <p:sp>
        <p:nvSpPr>
          <p:cNvPr id="32" name="Text 21"/>
          <p:cNvSpPr/>
          <p:nvPr/>
        </p:nvSpPr>
        <p:spPr>
          <a:xfrm>
            <a:off x="502920" y="4178808"/>
            <a:ext cx="239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with RMSE and MAE metrics on test data</a:t>
            </a:r>
            <a:endParaRPr lang="en-US" sz="1000" dirty="0"/>
          </a:p>
        </p:txBody>
      </p:sp>
      <p:sp>
        <p:nvSpPr>
          <p:cNvPr id="33" name="Shape 22"/>
          <p:cNvSpPr/>
          <p:nvPr/>
        </p:nvSpPr>
        <p:spPr>
          <a:xfrm>
            <a:off x="3200400" y="3584448"/>
            <a:ext cx="265176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37560" y="3931920"/>
            <a:ext cx="411480" cy="411480"/>
          </a:xfrm>
          <a:prstGeom prst="rect">
            <a:avLst/>
          </a:prstGeom>
        </p:spPr>
      </p:pic>
      <p:sp>
        <p:nvSpPr>
          <p:cNvPr id="35" name="Shape 23"/>
          <p:cNvSpPr/>
          <p:nvPr/>
        </p:nvSpPr>
        <p:spPr>
          <a:xfrm>
            <a:off x="3337560" y="3675888"/>
            <a:ext cx="411480" cy="411480"/>
          </a:xfrm>
          <a:prstGeom prst="oval">
            <a:avLst/>
          </a:prstGeom>
          <a:solidFill>
            <a:srgbClr val="2E8BC0"/>
          </a:solidFill>
          <a:ln/>
        </p:spPr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64992" y="3703320"/>
            <a:ext cx="347472" cy="347472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3858768" y="36758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Ready</a:t>
            </a:r>
            <a:endParaRPr lang="en-US" sz="1100" dirty="0"/>
          </a:p>
        </p:txBody>
      </p:sp>
      <p:sp>
        <p:nvSpPr>
          <p:cNvPr id="38" name="Text 25"/>
          <p:cNvSpPr/>
          <p:nvPr/>
        </p:nvSpPr>
        <p:spPr>
          <a:xfrm>
            <a:off x="3337560" y="4178808"/>
            <a:ext cx="239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live Yahoo Finance data via yfinance API</a:t>
            </a:r>
            <a:endParaRPr lang="en-US" sz="1000" dirty="0"/>
          </a:p>
        </p:txBody>
      </p:sp>
      <p:sp>
        <p:nvSpPr>
          <p:cNvPr id="39" name="Shape 26"/>
          <p:cNvSpPr/>
          <p:nvPr/>
        </p:nvSpPr>
        <p:spPr>
          <a:xfrm>
            <a:off x="6035040" y="3584448"/>
            <a:ext cx="265176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pic>
        <p:nvPicPr>
          <p:cNvPr id="4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72200" y="3931920"/>
            <a:ext cx="411480" cy="411480"/>
          </a:xfrm>
          <a:prstGeom prst="rect">
            <a:avLst/>
          </a:prstGeom>
        </p:spPr>
      </p:pic>
      <p:sp>
        <p:nvSpPr>
          <p:cNvPr id="41" name="Shape 27"/>
          <p:cNvSpPr/>
          <p:nvPr/>
        </p:nvSpPr>
        <p:spPr>
          <a:xfrm>
            <a:off x="6172200" y="3675888"/>
            <a:ext cx="411480" cy="411480"/>
          </a:xfrm>
          <a:prstGeom prst="oval">
            <a:avLst/>
          </a:prstGeom>
          <a:solidFill>
            <a:srgbClr val="EF4444"/>
          </a:solidFill>
          <a:ln/>
        </p:spPr>
      </p:sp>
      <p:pic>
        <p:nvPicPr>
          <p:cNvPr id="4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99632" y="3703320"/>
            <a:ext cx="347472" cy="347472"/>
          </a:xfrm>
          <a:prstGeom prst="rect">
            <a:avLst/>
          </a:prstGeom>
        </p:spPr>
      </p:pic>
      <p:sp>
        <p:nvSpPr>
          <p:cNvPr id="43" name="Text 28"/>
          <p:cNvSpPr/>
          <p:nvPr/>
        </p:nvSpPr>
        <p:spPr>
          <a:xfrm>
            <a:off x="6693408" y="36758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Stack</a:t>
            </a:r>
            <a:endParaRPr lang="en-US" sz="1100" dirty="0"/>
          </a:p>
        </p:txBody>
      </p:sp>
      <p:sp>
        <p:nvSpPr>
          <p:cNvPr id="44" name="Text 29"/>
          <p:cNvSpPr/>
          <p:nvPr/>
        </p:nvSpPr>
        <p:spPr>
          <a:xfrm>
            <a:off x="6172200" y="4178808"/>
            <a:ext cx="239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built with free, industry-standard Python libraries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F55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256032"/>
            <a:ext cx="438912" cy="438912"/>
          </a:xfrm>
          <a:prstGeom prst="oval">
            <a:avLst/>
          </a:prstGeom>
          <a:solidFill>
            <a:srgbClr val="0EC9C9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5760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Libraries Powering the Project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420624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61288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1E5FA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6128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🐍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16152" y="11430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16152" y="14356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16152" y="16184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language for all scripts and models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27448" y="1051560"/>
            <a:ext cx="420624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64608" y="1161288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2E8BC0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16128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🐼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623560" y="11430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23560" y="14356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 library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623560" y="16184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operations, CSV loading, filtering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057400"/>
            <a:ext cx="420624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167128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0EC9C9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16712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🔢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216152" y="21488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16152" y="24414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computing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216152" y="26243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operations, mathematical calculations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27448" y="2057400"/>
            <a:ext cx="420624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64608" y="2167128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22C55E"/>
          </a:solidFill>
          <a:ln/>
        </p:spPr>
      </p:sp>
      <p:sp>
        <p:nvSpPr>
          <p:cNvPr id="26" name="Text 24"/>
          <p:cNvSpPr/>
          <p:nvPr/>
        </p:nvSpPr>
        <p:spPr>
          <a:xfrm>
            <a:off x="4864608" y="216712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623560" y="21488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23560" y="24414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623560" y="26243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charts, scatter plots, trend graphs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3063240"/>
            <a:ext cx="420624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3172968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317296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1216152" y="31546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216152" y="34472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toolkit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216152" y="36301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Regression, train/test split, metrics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27448" y="3063240"/>
            <a:ext cx="420624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64608" y="3172968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EF4444"/>
          </a:solidFill>
          <a:ln/>
        </p:spPr>
      </p:sp>
      <p:sp>
        <p:nvSpPr>
          <p:cNvPr id="38" name="Text 36"/>
          <p:cNvSpPr/>
          <p:nvPr/>
        </p:nvSpPr>
        <p:spPr>
          <a:xfrm>
            <a:off x="4864608" y="317296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📓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5623560" y="31546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623560" y="34472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development environment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623560" y="36301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+ output + documentation in one place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0040" y="4069080"/>
            <a:ext cx="420624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57200" y="4178808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7C3AED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417880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1216152" y="41605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216152" y="44531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Finance API wrapper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216152" y="46360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historical OHLCV stock data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727448" y="4069080"/>
            <a:ext cx="420624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864608" y="4178808"/>
            <a:ext cx="658368" cy="658368"/>
          </a:xfrm>
          <a:prstGeom prst="roundRect">
            <a:avLst>
              <a:gd name="adj" fmla="val 11111"/>
            </a:avLst>
          </a:prstGeom>
          <a:solidFill>
            <a:srgbClr val="0891B2"/>
          </a:solidFill>
          <a:ln/>
        </p:spPr>
      </p:sp>
      <p:sp>
        <p:nvSpPr>
          <p:cNvPr id="50" name="Text 48"/>
          <p:cNvSpPr/>
          <p:nvPr/>
        </p:nvSpPr>
        <p:spPr>
          <a:xfrm>
            <a:off x="4864608" y="417880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5623560" y="41605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623560" y="44531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visualization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623560" y="46360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Heatmaps, distribution plots, correlation matrix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F55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256032"/>
            <a:ext cx="438912" cy="438912"/>
          </a:xfrm>
          <a:prstGeom prst="oval">
            <a:avLst/>
          </a:prstGeom>
          <a:solidFill>
            <a:srgbClr val="0EC9C9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5760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Flow Diagram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16002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98448"/>
            <a:ext cx="1234440" cy="502920"/>
          </a:xfrm>
          <a:prstGeom prst="roundRect">
            <a:avLst>
              <a:gd name="adj" fmla="val 14545"/>
            </a:avLst>
          </a:prstGeom>
          <a:solidFill>
            <a:srgbClr val="1E5FA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98448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Input Data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874520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Finance API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(OHLCV Data)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74520" y="2359152"/>
            <a:ext cx="256032" cy="73152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11" name="Shape 9"/>
          <p:cNvSpPr/>
          <p:nvPr/>
        </p:nvSpPr>
        <p:spPr>
          <a:xfrm>
            <a:off x="2057400" y="2258568"/>
            <a:ext cx="0" cy="0"/>
          </a:xfrm>
          <a:prstGeom prst="rect">
            <a:avLst/>
          </a:prstGeom>
          <a:noFill/>
          <a:ln/>
        </p:spPr>
      </p:sp>
      <p:sp>
        <p:nvSpPr>
          <p:cNvPr id="12" name="Text 10"/>
          <p:cNvSpPr/>
          <p:nvPr/>
        </p:nvSpPr>
        <p:spPr>
          <a:xfrm>
            <a:off x="1965960" y="2212848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965960" y="1188720"/>
            <a:ext cx="16002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148840" y="1298448"/>
            <a:ext cx="1234440" cy="502920"/>
          </a:xfrm>
          <a:prstGeom prst="roundRect">
            <a:avLst>
              <a:gd name="adj" fmla="val 14545"/>
            </a:avLst>
          </a:prstGeom>
          <a:solidFill>
            <a:srgbClr val="2E8BC0"/>
          </a:solidFill>
          <a:ln/>
        </p:spPr>
      </p:sp>
      <p:sp>
        <p:nvSpPr>
          <p:cNvPr id="15" name="Text 13"/>
          <p:cNvSpPr/>
          <p:nvPr/>
        </p:nvSpPr>
        <p:spPr>
          <a:xfrm>
            <a:off x="2148840" y="1298448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Preprocessing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03120" y="1874520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Fill Nulls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566160" y="2359152"/>
            <a:ext cx="256032" cy="73152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18" name="Shape 16"/>
          <p:cNvSpPr/>
          <p:nvPr/>
        </p:nvSpPr>
        <p:spPr>
          <a:xfrm>
            <a:off x="3749040" y="2258568"/>
            <a:ext cx="0" cy="0"/>
          </a:xfrm>
          <a:prstGeom prst="rect">
            <a:avLst/>
          </a:prstGeom>
          <a:noFill/>
          <a:ln/>
        </p:spPr>
      </p:sp>
      <p:sp>
        <p:nvSpPr>
          <p:cNvPr id="19" name="Text 17"/>
          <p:cNvSpPr/>
          <p:nvPr/>
        </p:nvSpPr>
        <p:spPr>
          <a:xfrm>
            <a:off x="3657600" y="2212848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0" y="1188720"/>
            <a:ext cx="16002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40480" y="1298448"/>
            <a:ext cx="1234440" cy="502920"/>
          </a:xfrm>
          <a:prstGeom prst="roundRect">
            <a:avLst>
              <a:gd name="adj" fmla="val 14545"/>
            </a:avLst>
          </a:prstGeom>
          <a:solidFill>
            <a:srgbClr val="0EC9C9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0" y="1298448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EDA &amp; Visualization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794760" y="1874520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Charts, Heatmaps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Averages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257800" y="2359152"/>
            <a:ext cx="256032" cy="73152"/>
          </a:xfrm>
          <a:prstGeom prst="rect">
            <a:avLst/>
          </a:prstGeom>
          <a:solidFill>
            <a:srgbClr val="0EC9C9"/>
          </a:solidFill>
          <a:ln/>
        </p:spPr>
      </p:sp>
      <p:sp>
        <p:nvSpPr>
          <p:cNvPr id="25" name="Shape 23"/>
          <p:cNvSpPr/>
          <p:nvPr/>
        </p:nvSpPr>
        <p:spPr>
          <a:xfrm>
            <a:off x="5440680" y="2258568"/>
            <a:ext cx="0" cy="0"/>
          </a:xfrm>
          <a:prstGeom prst="rect">
            <a:avLst/>
          </a:prstGeom>
          <a:noFill/>
          <a:ln/>
        </p:spPr>
      </p:sp>
      <p:sp>
        <p:nvSpPr>
          <p:cNvPr id="26" name="Text 24"/>
          <p:cNvSpPr/>
          <p:nvPr/>
        </p:nvSpPr>
        <p:spPr>
          <a:xfrm>
            <a:off x="5349240" y="2212848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E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349240" y="1188720"/>
            <a:ext cx="16002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532120" y="1298448"/>
            <a:ext cx="1234440" cy="502920"/>
          </a:xfrm>
          <a:prstGeom prst="roundRect">
            <a:avLst>
              <a:gd name="adj" fmla="val 14545"/>
            </a:avLst>
          </a:prstGeom>
          <a:solidFill>
            <a:srgbClr val="22C55E"/>
          </a:solidFill>
          <a:ln/>
        </p:spPr>
      </p:sp>
      <p:sp>
        <p:nvSpPr>
          <p:cNvPr id="29" name="Text 27"/>
          <p:cNvSpPr/>
          <p:nvPr/>
        </p:nvSpPr>
        <p:spPr>
          <a:xfrm>
            <a:off x="5532120" y="1298448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ML Model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0" y="1874520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LSTM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949440" y="2359152"/>
            <a:ext cx="256032" cy="7315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2" name="Shape 30"/>
          <p:cNvSpPr/>
          <p:nvPr/>
        </p:nvSpPr>
        <p:spPr>
          <a:xfrm>
            <a:off x="7132320" y="2258568"/>
            <a:ext cx="0" cy="0"/>
          </a:xfrm>
          <a:prstGeom prst="rect">
            <a:avLst/>
          </a:prstGeom>
          <a:noFill/>
          <a:ln/>
        </p:spPr>
      </p:sp>
      <p:sp>
        <p:nvSpPr>
          <p:cNvPr id="33" name="Text 31"/>
          <p:cNvSpPr/>
          <p:nvPr/>
        </p:nvSpPr>
        <p:spPr>
          <a:xfrm>
            <a:off x="7040880" y="2212848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040880" y="1188720"/>
            <a:ext cx="16002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223760" y="1298448"/>
            <a:ext cx="1234440" cy="502920"/>
          </a:xfrm>
          <a:prstGeom prst="roundRect">
            <a:avLst>
              <a:gd name="adj" fmla="val 14545"/>
            </a:avLst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7223760" y="1298448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Output &amp; Results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178040" y="1874520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Metrics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74320" y="28346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965960" y="28346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657600" y="28346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349240" y="28346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040880" y="28346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74320" y="3474720"/>
            <a:ext cx="8595360" cy="1371600"/>
          </a:xfrm>
          <a:prstGeom prst="roundRect">
            <a:avLst>
              <a:gd name="adj" fmla="val 6667"/>
            </a:avLst>
          </a:prstGeom>
          <a:solidFill>
            <a:srgbClr val="EEF4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57200" y="354787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Component Breakdown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57200" y="388620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Source: yfinance API / CSV Files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Processing: Pandas + NumPy (missing values, feature engineering)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Visualization: Matplotlib + Seaborn (trend charts, heatmaps)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Model: Scikit-learn LinearRegression or Keras LSTM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Evaluation: RMSE, MAE, R² Score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F55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256032"/>
            <a:ext cx="438912" cy="438912"/>
          </a:xfrm>
          <a:prstGeom prst="oval">
            <a:avLst/>
          </a:prstGeom>
          <a:solidFill>
            <a:srgbClr val="0EC9C9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Details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5760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Stock Price Data — Features &amp; Structure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78992"/>
          <a:ext cx="8412480" cy="224028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2103120"/>
                <a:gridCol w="2103120"/>
              </a:tblGrid>
              <a:tr h="2800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5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Trading 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2023-01-02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at market open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₹2,345.50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price of the 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₹2,389.80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 price of the 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₹2,310.25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at market close (target)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₹2,375.60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shares traded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12,34,500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 Close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Adjusted for splits/dividends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₹2,375.60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3493008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65760" y="3584448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365760" y="4251960"/>
            <a:ext cx="1965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Data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514600" y="3493008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514600" y="3584448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2500+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2514600" y="4251960"/>
            <a:ext cx="1965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Records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63440" y="3493008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663440" y="3584448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4663440" y="4251960"/>
            <a:ext cx="1965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Columns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812280" y="3493008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812280" y="3584448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6812280" y="4251960"/>
            <a:ext cx="1965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Data Source: Yahoo Finance API (yfinance library) — Ticker symbols: RELIANCE.NS, TCS.NS, INFY.NS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F55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256032"/>
            <a:ext cx="438912" cy="438912"/>
          </a:xfrm>
          <a:prstGeom prst="oval">
            <a:avLst/>
          </a:prstGeom>
          <a:solidFill>
            <a:srgbClr val="0EC9C9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5760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Preparing Data for Analysis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42062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457200" cy="457200"/>
          </a:xfrm>
          <a:prstGeom prst="oval">
            <a:avLst/>
          </a:prstGeom>
          <a:solidFill>
            <a:srgbClr val="1E5FA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33272" y="1170432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Dataset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609344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CSV or fetch live data using yfinance. Set 'Date' column as the index.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27448" y="1078992"/>
            <a:ext cx="42062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64608" y="1188720"/>
            <a:ext cx="457200" cy="457200"/>
          </a:xfrm>
          <a:prstGeom prst="oval">
            <a:avLst/>
          </a:prstGeom>
          <a:solidFill>
            <a:srgbClr val="2E8BC0"/>
          </a:solidFill>
          <a:ln/>
        </p:spPr>
      </p:sp>
      <p:sp>
        <p:nvSpPr>
          <p:cNvPr id="13" name="Text 11"/>
          <p:cNvSpPr/>
          <p:nvPr/>
        </p:nvSpPr>
        <p:spPr>
          <a:xfrm>
            <a:off x="4864608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40680" y="1170432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64608" y="1609344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NaN values using df.isnull().sum(). Fill gaps using forward-fill (ffill) method.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377440"/>
            <a:ext cx="42062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487168"/>
            <a:ext cx="457200" cy="457200"/>
          </a:xfrm>
          <a:prstGeom prst="oval">
            <a:avLst/>
          </a:prstGeom>
          <a:solidFill>
            <a:srgbClr val="0EC9C9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487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33272" y="2468880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2907792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df.drop_duplicates() to remove repeated rows and ensure data integrity.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27448" y="2377440"/>
            <a:ext cx="42062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64608" y="2487168"/>
            <a:ext cx="457200" cy="457200"/>
          </a:xfrm>
          <a:prstGeom prst="oval">
            <a:avLst/>
          </a:prstGeom>
          <a:solidFill>
            <a:srgbClr val="22C55E"/>
          </a:solidFill>
          <a:ln/>
        </p:spPr>
      </p:sp>
      <p:sp>
        <p:nvSpPr>
          <p:cNvPr id="23" name="Text 21"/>
          <p:cNvSpPr/>
          <p:nvPr/>
        </p:nvSpPr>
        <p:spPr>
          <a:xfrm>
            <a:off x="4864608" y="2487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40680" y="2468880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64608" y="2907792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features: 7-day Moving Average, 30-day Moving Average, Daily Return (%), and Volatility.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675888"/>
            <a:ext cx="42062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785616"/>
            <a:ext cx="457200" cy="457200"/>
          </a:xfrm>
          <a:prstGeom prst="oval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7856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33272" y="3767328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Normalization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420624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numerical features to [0,1] range using MinMaxScaler for better ML model convergence.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27448" y="3675888"/>
            <a:ext cx="42062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64608" y="3785616"/>
            <a:ext cx="457200" cy="457200"/>
          </a:xfrm>
          <a:prstGeom prst="oval">
            <a:avLst/>
          </a:prstGeom>
          <a:solidFill>
            <a:srgbClr val="EF4444"/>
          </a:solidFill>
          <a:ln/>
        </p:spPr>
      </p:sp>
      <p:sp>
        <p:nvSpPr>
          <p:cNvPr id="33" name="Text 31"/>
          <p:cNvSpPr/>
          <p:nvPr/>
        </p:nvSpPr>
        <p:spPr>
          <a:xfrm>
            <a:off x="4864608" y="37856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40680" y="3767328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64608" y="420624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 80% training / 20% testing. No shuffling — time-series data must maintain sequence.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F55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256032"/>
            <a:ext cx="438912" cy="438912"/>
          </a:xfrm>
          <a:prstGeom prst="oval">
            <a:avLst/>
          </a:prstGeom>
          <a:solidFill>
            <a:srgbClr val="0EC9C9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5760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&amp; Graphs for Trend Analysis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502920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1556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Stock Price Trend — Closing Price Over Time</a:t>
            </a:r>
            <a:endParaRPr lang="en-US" sz="11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65760" y="1463040"/>
          <a:ext cx="493776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5577840" y="1051560"/>
            <a:ext cx="324612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715000" y="1115568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Monthly Trading Volume</a:t>
            </a:r>
            <a:endParaRPr lang="en-US" sz="110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5623560" y="1463040"/>
          <a:ext cx="315468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3749040"/>
            <a:ext cx="8503920" cy="1188720"/>
          </a:xfrm>
          <a:prstGeom prst="roundRect">
            <a:avLst>
              <a:gd name="adj" fmla="val 7692"/>
            </a:avLst>
          </a:prstGeom>
          <a:solidFill>
            <a:srgbClr val="EEF4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02920" y="38221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Types Used in This Project: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02920" y="4133088"/>
            <a:ext cx="8046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 — tracks closing price trend over months/years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Candlestick Chart — shows Open, High, Low, Close for each day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Average — smooths noise to reveal underlying trend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— correlation between all numeric features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— distribution of daily returns (gains/losses)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F55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256032"/>
            <a:ext cx="438912" cy="438912"/>
          </a:xfrm>
          <a:prstGeom prst="oval">
            <a:avLst/>
          </a:prstGeom>
          <a:solidFill>
            <a:srgbClr val="0EC9C9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5760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&amp; LSTM — Training &amp; Testing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416052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70432"/>
            <a:ext cx="3977640" cy="457200"/>
          </a:xfrm>
          <a:prstGeom prst="roundRect">
            <a:avLst>
              <a:gd name="adj" fmla="val 12000"/>
            </a:avLst>
          </a:prstGeom>
          <a:solidFill>
            <a:srgbClr val="1E5FA8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17043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— Linear Regression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719072"/>
            <a:ext cx="393192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from sklearn.linear_model import LinearRegression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Features: Open, High, Low, Volume, 7-day MA, 30-day MA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Next day's Close price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Assumption: Linear relationship between features and price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model.fit(X_train, y_train)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Prediction: model.predict(X_test)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R² score, RMSE, MAE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078992"/>
            <a:ext cx="416052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70432"/>
            <a:ext cx="3977640" cy="457200"/>
          </a:xfrm>
          <a:prstGeom prst="roundRect">
            <a:avLst>
              <a:gd name="adj" fmla="val 12000"/>
            </a:avLst>
          </a:prstGeom>
          <a:solidFill>
            <a:srgbClr val="22C55E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17043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— LSTM Neural Network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719072"/>
            <a:ext cx="393192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Long Short-Term Memory (Deep Learning, Keras)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Sequences of 60 past days → predict day 61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LSTM(50) → LSTM(50) → Dense(1)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Handles: Time-series patterns, long-term dependencies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 Adam, Loss: Mean Squared Error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model.fit(X_train, y_train, epochs=50)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Sequence-to-one prediction (next close price)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0040" y="4956048"/>
            <a:ext cx="8503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Key Difference: Linear Regression finds simple patterns; LSTM captures complex, time-dependent sequences in stock data — making LSTM more accurate for long-horizon predictions.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F55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256032"/>
            <a:ext cx="438912" cy="438912"/>
          </a:xfrm>
          <a:prstGeom prst="oval">
            <a:avLst/>
          </a:prstGeom>
          <a:solidFill>
            <a:srgbClr val="0EC9C9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Results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5760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&amp; Accuracy Evaluation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115568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16916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975104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explains 94.2% of price variation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68880" y="105156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68880" y="1115568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₹42.5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468880" y="16916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68880" y="1975104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Squared Error on test set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17720" y="105156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17720" y="1115568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₹31.8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617720" y="16916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17720" y="1975104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 — avg prediction gap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766560" y="105156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66560" y="1115568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±1.8%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766560" y="16916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% Error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66560" y="1975104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percentage deviation from actual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" y="2578608"/>
            <a:ext cx="850392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" y="2651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Predicted vs Actual Closing Price</a:t>
            </a:r>
            <a:endParaRPr lang="en-US" sz="11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365760" y="2971800"/>
          <a:ext cx="841248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F55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256032"/>
            <a:ext cx="438912" cy="438912"/>
          </a:xfrm>
          <a:prstGeom prst="oval">
            <a:avLst/>
          </a:prstGeom>
          <a:solidFill>
            <a:srgbClr val="0EC9C9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of the Proposed System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5760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Approach is Better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1560" y="1207008"/>
            <a:ext cx="457200" cy="457200"/>
          </a:xfrm>
          <a:prstGeom prst="oval">
            <a:avLst/>
          </a:prstGeom>
          <a:solidFill>
            <a:srgbClr val="1E5FA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1234440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84048" y="1755648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Analysis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84048" y="2121408"/>
            <a:ext cx="18105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10 years of stock data in under 30 seconds — vs. days for manual analysis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450592" y="109728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27832" y="1207008"/>
            <a:ext cx="457200" cy="457200"/>
          </a:xfrm>
          <a:prstGeom prst="oval">
            <a:avLst/>
          </a:prstGeom>
          <a:solidFill>
            <a:srgbClr val="22C55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5264" y="1234440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60320" y="1755648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Decisions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2560320" y="2121408"/>
            <a:ext cx="18105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emotional bias; every decision is backed by mathematical patterns in data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626864" y="109728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404104" y="1207008"/>
            <a:ext cx="457200" cy="457200"/>
          </a:xfrm>
          <a:prstGeom prst="oval">
            <a:avLst/>
          </a:prstGeom>
          <a:solidFill>
            <a:srgbClr val="2E8BC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1536" y="1234440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736592" y="1755648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4736592" y="2121408"/>
            <a:ext cx="18105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set up, data collection, preprocessing, and prediction run without human input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6803136" y="109728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580376" y="1207008"/>
            <a:ext cx="457200" cy="457200"/>
          </a:xfrm>
          <a:prstGeom prst="oval">
            <a:avLst/>
          </a:prstGeom>
          <a:solidFill>
            <a:srgbClr val="0EC9C9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08" y="1234440"/>
            <a:ext cx="402336" cy="40233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12864" y="1755648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Insights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6912864" y="2121408"/>
            <a:ext cx="18105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charts help even non-technical investors understand trends and signals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274320" y="301752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1051560" y="3127248"/>
            <a:ext cx="457200" cy="457200"/>
          </a:xfrm>
          <a:prstGeom prst="oval">
            <a:avLst/>
          </a:prstGeom>
          <a:solidFill>
            <a:srgbClr val="F59E0B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" y="3154680"/>
            <a:ext cx="402336" cy="40233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84048" y="3675888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384048" y="4041648"/>
            <a:ext cx="18105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Easily extended to 50+ stocks simultaneously without additional programming effort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2450592" y="301752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3227832" y="3127248"/>
            <a:ext cx="457200" cy="457200"/>
          </a:xfrm>
          <a:prstGeom prst="oval">
            <a:avLst/>
          </a:prstGeom>
          <a:solidFill>
            <a:srgbClr val="22C55E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5264" y="3154680"/>
            <a:ext cx="402336" cy="402336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2560320" y="3675888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Accuracy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2560320" y="4041648"/>
            <a:ext cx="18105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and R² metrics provide quantifiable proof of model performance on test data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4626864" y="301752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5404104" y="3127248"/>
            <a:ext cx="457200" cy="457200"/>
          </a:xfrm>
          <a:prstGeom prst="oval">
            <a:avLst/>
          </a:prstGeom>
          <a:solidFill>
            <a:srgbClr val="7C3AED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31536" y="3154680"/>
            <a:ext cx="402336" cy="402336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4736592" y="3675888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Ready</a:t>
            </a:r>
            <a:endParaRPr lang="en-US" sz="1050" dirty="0"/>
          </a:p>
        </p:txBody>
      </p:sp>
      <p:sp>
        <p:nvSpPr>
          <p:cNvPr id="40" name="Text 31"/>
          <p:cNvSpPr/>
          <p:nvPr/>
        </p:nvSpPr>
        <p:spPr>
          <a:xfrm>
            <a:off x="4736592" y="4041648"/>
            <a:ext cx="18105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code structure makes it easy to test different models and compare results</a:t>
            </a:r>
            <a:endParaRPr lang="en-US" sz="900" dirty="0"/>
          </a:p>
        </p:txBody>
      </p:sp>
      <p:sp>
        <p:nvSpPr>
          <p:cNvPr id="41" name="Shape 32"/>
          <p:cNvSpPr/>
          <p:nvPr/>
        </p:nvSpPr>
        <p:spPr>
          <a:xfrm>
            <a:off x="6803136" y="301752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7580376" y="3127248"/>
            <a:ext cx="457200" cy="457200"/>
          </a:xfrm>
          <a:prstGeom prst="oval">
            <a:avLst/>
          </a:prstGeom>
          <a:solidFill>
            <a:srgbClr val="EF4444"/>
          </a:solidFill>
          <a:ln/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07808" y="3154680"/>
            <a:ext cx="402336" cy="402336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6912864" y="3675888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Effective</a:t>
            </a:r>
            <a:endParaRPr lang="en-US" sz="1050" dirty="0"/>
          </a:p>
        </p:txBody>
      </p:sp>
      <p:sp>
        <p:nvSpPr>
          <p:cNvPr id="45" name="Text 35"/>
          <p:cNvSpPr/>
          <p:nvPr/>
        </p:nvSpPr>
        <p:spPr>
          <a:xfrm>
            <a:off x="6912864" y="4041648"/>
            <a:ext cx="18105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entirely free, open-source tools — no licenses or API costs required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F55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256032"/>
            <a:ext cx="438912" cy="438912"/>
          </a:xfrm>
          <a:prstGeom prst="oval">
            <a:avLst/>
          </a:prstGeom>
          <a:solidFill>
            <a:srgbClr val="0EC9C9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5760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 of Current Constraints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42062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117043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Unpredictability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609344"/>
            <a:ext cx="3950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prices are affected by sudden events like elections, natural disasters, or global crises that historical data cannot anticipate. No model can predict 'black swan' events.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27448" y="1078992"/>
            <a:ext cx="42062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64608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📜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58968" y="117043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Dependency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64608" y="1609344"/>
            <a:ext cx="3950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trained on past data and assumes future patterns will resemble historical behavior. This assumption breaks during structural market changes.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404872"/>
            <a:ext cx="42062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51560" y="249631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Factors Ignored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2935224"/>
            <a:ext cx="3950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news, CEO changes, government policies, and social media sentiment are not included in the current OHLCV-based model, limiting its real-world accuracy.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27448" y="2404872"/>
            <a:ext cx="42062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64608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📉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458968" y="249631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Risk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64608" y="2935224"/>
            <a:ext cx="3950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too many features or a complex LSTM, the model may memorize training data instead of learning generalizable patterns, leading to poor performance on new data.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730752"/>
            <a:ext cx="42062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51560" y="382219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Demand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261104"/>
            <a:ext cx="3950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training for multiple stocks requires significant RAM and GPU resources, which are not available in basic Jupyter Notebook environments.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27448" y="3730752"/>
            <a:ext cx="42062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64608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⏱️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458968" y="382219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Focus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64608" y="4261104"/>
            <a:ext cx="39502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models predict the next 1-5 days accurately but struggle with long-term (months/years) predictions due to compounding uncertainties.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F55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256032"/>
            <a:ext cx="438912" cy="438912"/>
          </a:xfrm>
          <a:prstGeom prst="oval">
            <a:avLst/>
          </a:prstGeom>
          <a:solidFill>
            <a:srgbClr val="0EC9C9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5760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for Next-Level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52144"/>
            <a:ext cx="1005840" cy="594360"/>
          </a:xfrm>
          <a:prstGeom prst="roundRect">
            <a:avLst>
              <a:gd name="adj" fmla="val 12308"/>
            </a:avLst>
          </a:prstGeom>
          <a:solidFill>
            <a:srgbClr val="1E5FA8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52144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13232" y="1746504"/>
            <a:ext cx="219456" cy="201168"/>
          </a:xfrm>
          <a:prstGeom prst="rect">
            <a:avLst/>
          </a:prstGeom>
          <a:solidFill>
            <a:srgbClr val="1E5FA8">
              <a:alpha val="5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463040" y="1078992"/>
            <a:ext cx="73152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572768" y="1207008"/>
            <a:ext cx="457200" cy="457200"/>
          </a:xfrm>
          <a:prstGeom prst="oval">
            <a:avLst/>
          </a:prstGeom>
          <a:solidFill>
            <a:srgbClr val="1E5FA8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234440"/>
            <a:ext cx="402336" cy="40233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121408" y="115214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Prediction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121408" y="1472184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live WebSocket data feeds from NSE/BSE to predict prices in real time as markets move.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0040" y="1938528"/>
            <a:ext cx="1005840" cy="594360"/>
          </a:xfrm>
          <a:prstGeom prst="roundRect">
            <a:avLst>
              <a:gd name="adj" fmla="val 12308"/>
            </a:avLst>
          </a:prstGeom>
          <a:solidFill>
            <a:srgbClr val="22C55E"/>
          </a:solidFill>
          <a:ln/>
        </p:spPr>
      </p:sp>
      <p:sp>
        <p:nvSpPr>
          <p:cNvPr id="15" name="Text 12"/>
          <p:cNvSpPr/>
          <p:nvPr/>
        </p:nvSpPr>
        <p:spPr>
          <a:xfrm>
            <a:off x="320040" y="1938528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13232" y="2532888"/>
            <a:ext cx="219456" cy="201168"/>
          </a:xfrm>
          <a:prstGeom prst="rect">
            <a:avLst/>
          </a:prstGeom>
          <a:solidFill>
            <a:srgbClr val="22C55E">
              <a:alpha val="50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1463040" y="1865376"/>
            <a:ext cx="73152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572768" y="1993392"/>
            <a:ext cx="457200" cy="457200"/>
          </a:xfrm>
          <a:prstGeom prst="oval">
            <a:avLst/>
          </a:prstGeom>
          <a:solidFill>
            <a:srgbClr val="22C55E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2020824"/>
            <a:ext cx="402336" cy="40233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121408" y="19385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Upgrade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2121408" y="225856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Linear Regression with a hybrid CNN-LSTM model for superior accuracy on volatile stocks.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20040" y="2724912"/>
            <a:ext cx="1005840" cy="594360"/>
          </a:xfrm>
          <a:prstGeom prst="roundRect">
            <a:avLst>
              <a:gd name="adj" fmla="val 12308"/>
            </a:avLst>
          </a:prstGeom>
          <a:solidFill>
            <a:srgbClr val="F59E0B"/>
          </a:solidFill>
          <a:ln/>
        </p:spPr>
      </p:sp>
      <p:sp>
        <p:nvSpPr>
          <p:cNvPr id="23" name="Text 19"/>
          <p:cNvSpPr/>
          <p:nvPr/>
        </p:nvSpPr>
        <p:spPr>
          <a:xfrm>
            <a:off x="320040" y="2724912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713232" y="3319272"/>
            <a:ext cx="219456" cy="201168"/>
          </a:xfrm>
          <a:prstGeom prst="rect">
            <a:avLst/>
          </a:prstGeom>
          <a:solidFill>
            <a:srgbClr val="F59E0B">
              <a:alpha val="50000"/>
            </a:srgbClr>
          </a:solidFill>
          <a:ln/>
        </p:spPr>
      </p:sp>
      <p:sp>
        <p:nvSpPr>
          <p:cNvPr id="25" name="Shape 21"/>
          <p:cNvSpPr/>
          <p:nvPr/>
        </p:nvSpPr>
        <p:spPr>
          <a:xfrm>
            <a:off x="1463040" y="2651760"/>
            <a:ext cx="73152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1572768" y="2779776"/>
            <a:ext cx="457200" cy="457200"/>
          </a:xfrm>
          <a:prstGeom prst="oval">
            <a:avLst/>
          </a:prstGeom>
          <a:solidFill>
            <a:srgbClr val="F59E0B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2807208"/>
            <a:ext cx="402336" cy="402336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2121408" y="2724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Integration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2121408" y="3044952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Flutter/React Native app where users can select a stock and see AI predictions on their phone.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320040" y="3511296"/>
            <a:ext cx="1005840" cy="594360"/>
          </a:xfrm>
          <a:prstGeom prst="roundRect">
            <a:avLst>
              <a:gd name="adj" fmla="val 12308"/>
            </a:avLst>
          </a:prstGeom>
          <a:solidFill>
            <a:srgbClr val="0EC9C9"/>
          </a:solidFill>
          <a:ln/>
        </p:spPr>
      </p:sp>
      <p:sp>
        <p:nvSpPr>
          <p:cNvPr id="31" name="Text 26"/>
          <p:cNvSpPr/>
          <p:nvPr/>
        </p:nvSpPr>
        <p:spPr>
          <a:xfrm>
            <a:off x="320040" y="3511296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713232" y="4105656"/>
            <a:ext cx="219456" cy="201168"/>
          </a:xfrm>
          <a:prstGeom prst="rect">
            <a:avLst/>
          </a:prstGeom>
          <a:solidFill>
            <a:srgbClr val="0EC9C9">
              <a:alpha val="50000"/>
            </a:srgbClr>
          </a:solidFill>
          <a:ln/>
        </p:spPr>
      </p:sp>
      <p:sp>
        <p:nvSpPr>
          <p:cNvPr id="33" name="Shape 28"/>
          <p:cNvSpPr/>
          <p:nvPr/>
        </p:nvSpPr>
        <p:spPr>
          <a:xfrm>
            <a:off x="1463040" y="3438144"/>
            <a:ext cx="73152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1572768" y="3566160"/>
            <a:ext cx="457200" cy="457200"/>
          </a:xfrm>
          <a:prstGeom prst="oval">
            <a:avLst/>
          </a:prstGeom>
          <a:solidFill>
            <a:srgbClr val="0EC9C9"/>
          </a:solidFill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3593592"/>
            <a:ext cx="402336" cy="402336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2121408" y="351129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2121408" y="3831336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NLP to analyze tweets and financial news headlines and combine sentiment score with price prediction.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320040" y="4297680"/>
            <a:ext cx="1005840" cy="594360"/>
          </a:xfrm>
          <a:prstGeom prst="roundRect">
            <a:avLst>
              <a:gd name="adj" fmla="val 12308"/>
            </a:avLst>
          </a:prstGeom>
          <a:solidFill>
            <a:srgbClr val="7C3AED"/>
          </a:solidFill>
          <a:ln/>
        </p:spPr>
      </p:sp>
      <p:sp>
        <p:nvSpPr>
          <p:cNvPr id="39" name="Text 33"/>
          <p:cNvSpPr/>
          <p:nvPr/>
        </p:nvSpPr>
        <p:spPr>
          <a:xfrm>
            <a:off x="320040" y="429768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1463040" y="4224528"/>
            <a:ext cx="73152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1" name="Shape 35"/>
          <p:cNvSpPr/>
          <p:nvPr/>
        </p:nvSpPr>
        <p:spPr>
          <a:xfrm>
            <a:off x="1572768" y="4352544"/>
            <a:ext cx="457200" cy="457200"/>
          </a:xfrm>
          <a:prstGeom prst="oval">
            <a:avLst/>
          </a:prstGeom>
          <a:solidFill>
            <a:srgbClr val="7C3AED"/>
          </a:solidFill>
          <a:ln/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0200" y="4379976"/>
            <a:ext cx="402336" cy="402336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2121408" y="4297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Optimization</a:t>
            </a:r>
            <a:endParaRPr lang="en-US" sz="1200" dirty="0"/>
          </a:p>
        </p:txBody>
      </p:sp>
      <p:sp>
        <p:nvSpPr>
          <p:cNvPr id="44" name="Text 37"/>
          <p:cNvSpPr/>
          <p:nvPr/>
        </p:nvSpPr>
        <p:spPr>
          <a:xfrm>
            <a:off x="2121408" y="461772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reinforcement learning to automatically allocate investment across a portfolio for maximum returns.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A2F5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54864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0292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1078992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457200" y="1783080"/>
            <a:ext cx="4114800" cy="45720"/>
          </a:xfrm>
          <a:prstGeom prst="rect">
            <a:avLst/>
          </a:prstGeom>
          <a:solidFill>
            <a:srgbClr val="2E8BC0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920240"/>
            <a:ext cx="52120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Successfully built an ML pipeline to analyze and predict stock prices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Visualized price trends, moving averages, and volume patterns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Linear Regression achieved R² = 0.942 on the test dataset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LSTM model further improved prediction with time-series learning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The system automates what manual analysts take days to do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Demonstrated practical value for data-driven investment decisions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4663440"/>
            <a:ext cx="2560320" cy="365760"/>
          </a:xfrm>
          <a:prstGeom prst="roundRect">
            <a:avLst>
              <a:gd name="adj" fmla="val 25000"/>
            </a:avLst>
          </a:prstGeom>
          <a:solidFill>
            <a:srgbClr val="0EC9C9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57200" y="4663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🙏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F55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256032"/>
            <a:ext cx="438912" cy="438912"/>
          </a:xfrm>
          <a:prstGeom prst="oval">
            <a:avLst/>
          </a:prstGeom>
          <a:solidFill>
            <a:srgbClr val="0EC9C9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731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5760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Sources, Documentation &amp; Research Papers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347472"/>
          </a:xfrm>
          <a:prstGeom prst="roundRect">
            <a:avLst>
              <a:gd name="adj" fmla="val 26316"/>
            </a:avLst>
          </a:prstGeom>
          <a:solidFill>
            <a:srgbClr val="1A2F55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0972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43560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S. McNally et al. (2018) — 'Predicting the Price of Bitcoin Using Machine Learning', IEEE Xplore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74650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Fischer, T. &amp; Krauss, C. (2018) — 'Deep learning with long short-term memory networks for financial market predictions', European Journal of Operational Research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0574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Moghar, A. &amp; Hamiche, M. (2020) — 'Stock Market Prediction Using LSTM Recurrent Neural Network', Procedia Computer Science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459736"/>
            <a:ext cx="8412480" cy="347472"/>
          </a:xfrm>
          <a:prstGeom prst="roundRect">
            <a:avLst>
              <a:gd name="adj" fmla="val 26316"/>
            </a:avLst>
          </a:prstGeom>
          <a:solidFill>
            <a:srgbClr val="1A2F55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250545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84378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Yahoo Finance — Historical Stock Data: https://finance.yahoo.com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15468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yfinance Python Library: https://github.com/ranaroussi/yfinance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465576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National Stock Exchange of India (NSE): https://www.nseindia.com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867912"/>
            <a:ext cx="8412480" cy="347472"/>
          </a:xfrm>
          <a:prstGeom prst="roundRect">
            <a:avLst>
              <a:gd name="adj" fmla="val 26316"/>
            </a:avLst>
          </a:prstGeom>
          <a:solidFill>
            <a:srgbClr val="1A2F55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91363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Documentation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425196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Scikit-learn Documentation: https://scikit-learn.org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4562856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Pandas Documentation: https://pandas.pydata.org/docs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487375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 Keras LSTM Guide: https://keras.io/api/layers/recurrent_layers/lstm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518464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Matplotlib: https://matplotlib.org/stable/contents.html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 Price Analysis &amp; Trend Prediction</dc:title>
  <dc:subject>PptxGenJS Presentation</dc:subject>
  <dc:creator>PptxGenJS</dc:creator>
  <cp:lastModifiedBy>PptxGenJS</cp:lastModifiedBy>
  <cp:revision>1</cp:revision>
  <dcterms:created xsi:type="dcterms:W3CDTF">2026-06-12T02:51:46Z</dcterms:created>
  <dcterms:modified xsi:type="dcterms:W3CDTF">2026-06-12T02:51:46Z</dcterms:modified>
</cp:coreProperties>
</file>